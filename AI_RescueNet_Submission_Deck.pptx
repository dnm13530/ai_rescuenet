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300">
                <a:solidFill>
                  <a:srgbClr val="1F1F1F"/>
                </a:solidFill>
              </a:rPr>
              <a:t>Team name: [FILL IN]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sz="1300">
                <a:solidFill>
                  <a:srgbClr val="1F1F1F"/>
                </a:solidFill>
              </a:rPr>
              <a:t>Team leader name: [FILL IN]</a:t>
            </a:r>
          </a:p>
          <a:p>
            <a:r>
              <a:rPr sz="1300">
                <a:solidFill>
                  <a:srgbClr val="1F1F1F"/>
                </a:solidFill>
              </a:rPr>
              <a:t>Team members: [FILL IN]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Problem Statement:</a:t>
            </a:r>
          </a:p>
          <a:p>
            <a:r>
              <a:rPr sz="1300">
                <a:solidFill>
                  <a:srgbClr val="1F1F1F"/>
                </a:solidFill>
              </a:rPr>
              <a:t>Disaster relief in India is bottlenecked by manual triage. When floods, cyclones,</a:t>
            </a:r>
          </a:p>
          <a:p>
            <a:r>
              <a:rPr sz="1300">
                <a:solidFill>
                  <a:srgbClr val="1F1F1F"/>
                </a:solidFill>
              </a:rPr>
              <a:t>earthquakes, or heatwaves hit, hundreds of aid requests arrive in minutes — over</a:t>
            </a:r>
          </a:p>
          <a:p>
            <a:r>
              <a:rPr sz="1300">
                <a:solidFill>
                  <a:srgbClr val="1F1F1F"/>
                </a:solidFill>
              </a:rPr>
              <a:t>voice calls, SMS, and forms in multiple languages. Dispatchers have to read each</a:t>
            </a:r>
          </a:p>
          <a:p>
            <a:r>
              <a:rPr sz="1300">
                <a:solidFill>
                  <a:srgbClr val="1F1F1F"/>
                </a:solidFill>
              </a:rPr>
              <a:t>one, judge severity, decide which resources to send, and where, while road access</a:t>
            </a:r>
          </a:p>
          <a:p>
            <a:r>
              <a:rPr sz="1300">
                <a:solidFill>
                  <a:srgbClr val="1F1F1F"/>
                </a:solidFill>
              </a:rPr>
              <a:t>is collapsing in real time. The result is delayed aid, mis-allocated resources,</a:t>
            </a:r>
          </a:p>
          <a:p>
            <a:r>
              <a:rPr sz="1300">
                <a:solidFill>
                  <a:srgbClr val="1F1F1F"/>
                </a:solidFill>
              </a:rPr>
              <a:t>and avoidable casualties in the first 72 hours.</a:t>
            </a: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1F1F"/>
                </a:solidFill>
              </a:rPr>
              <a:t>AI RescueNet — an AI-powered disaster relief management system that</a:t>
            </a:r>
          </a:p>
          <a:p>
            <a:r>
              <a:rPr sz="1300">
                <a:solidFill>
                  <a:srgbClr val="1F1F1F"/>
                </a:solidFill>
              </a:rPr>
              <a:t>automatically prioritizes and dispatches emergency aid using Google Gemini.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How it works (every incoming request flows through this pipeline):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1.  Voice / image / text request submitted via the web form.</a:t>
            </a:r>
          </a:p>
          <a:p>
            <a:r>
              <a:rPr sz="1300">
                <a:solidFill>
                  <a:srgbClr val="1F1F1F"/>
                </a:solidFill>
              </a:rPr>
              <a:t>2.  Open-Meteo enriches it with live weather at the request's location.</a:t>
            </a:r>
          </a:p>
          <a:p>
            <a:r>
              <a:rPr sz="1300">
                <a:solidFill>
                  <a:srgbClr val="1F1F1F"/>
                </a:solidFill>
              </a:rPr>
              <a:t>3.  Custom RAG (Gemini Embeddings, 3072-dim) retrieves the closest historical</a:t>
            </a:r>
          </a:p>
          <a:p>
            <a:r>
              <a:rPr sz="1300">
                <a:solidFill>
                  <a:srgbClr val="1F1F1F"/>
                </a:solidFill>
              </a:rPr>
              <a:t>    Indian disaster precedent from a 20-event playbook.</a:t>
            </a:r>
          </a:p>
          <a:p>
            <a:r>
              <a:rPr sz="1300">
                <a:solidFill>
                  <a:srgbClr val="1F1F1F"/>
                </a:solidFill>
              </a:rPr>
              <a:t>4.  Gemini 2.5-Flash with Function Calling returns a typed plan:</a:t>
            </a:r>
          </a:p>
          <a:p>
            <a:r>
              <a:rPr sz="1300">
                <a:solidFill>
                  <a:srgbClr val="1F1F1F"/>
                </a:solidFill>
              </a:rPr>
              <a:t>    priority score 0-100, base reasoning, 12-24h forecast, image verification,</a:t>
            </a:r>
          </a:p>
          <a:p>
            <a:r>
              <a:rPr sz="1300">
                <a:solidFill>
                  <a:srgbClr val="1F1F1F"/>
                </a:solidFill>
              </a:rPr>
              <a:t>    detected language, ranked resource dispatch list.</a:t>
            </a:r>
          </a:p>
          <a:p>
            <a:r>
              <a:rPr sz="1300">
                <a:solidFill>
                  <a:srgbClr val="1F1F1F"/>
                </a:solidFill>
              </a:rPr>
              <a:t>5.  Score &gt;= 80 auto-dispatches a card to a Google Chat webhook.</a:t>
            </a:r>
          </a:p>
          <a:p>
            <a:r>
              <a:rPr sz="1300">
                <a:solidFill>
                  <a:srgbClr val="1F1F1F"/>
                </a:solidFill>
              </a:rPr>
              <a:t>6.  Allocations broadcast over Socket.io to every connected admin dashboard</a:t>
            </a:r>
          </a:p>
          <a:p>
            <a:r>
              <a:rPr sz="1300">
                <a:solidFill>
                  <a:srgbClr val="1F1F1F"/>
                </a:solidFill>
              </a:rPr>
              <a:t>    in real time.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Plus a Predictive Pre-Positioning Engine that stages resources BEFORE impact,</a:t>
            </a:r>
          </a:p>
          <a:p>
            <a:r>
              <a:rPr sz="1300">
                <a:solidFill>
                  <a:srgbClr val="1F1F1F"/>
                </a:solidFill>
              </a:rPr>
              <a:t>and a Scenario Simulator that replays Cyclone Biparjoy for live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TextBox 12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1F1F"/>
                </a:solidFill>
              </a:rPr>
              <a:t>Why AI RescueNet is different: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USP — Three signals fused into ONE decision (other tools fuse zero or one):</a:t>
            </a:r>
          </a:p>
          <a:p>
            <a:r>
              <a:rPr sz="1300">
                <a:solidFill>
                  <a:srgbClr val="1F1F1F"/>
                </a:solidFill>
              </a:rPr>
              <a:t>   • Live weather (Open-Meteo)</a:t>
            </a:r>
          </a:p>
          <a:p>
            <a:r>
              <a:rPr sz="1300">
                <a:solidFill>
                  <a:srgbClr val="1F1F1F"/>
                </a:solidFill>
              </a:rPr>
              <a:t>   • Organisational memory (Gemini Embeddings RAG over 20 Indian precedents)</a:t>
            </a:r>
          </a:p>
          <a:p>
            <a:r>
              <a:rPr sz="1300">
                <a:solidFill>
                  <a:srgbClr val="1F1F1F"/>
                </a:solidFill>
              </a:rPr>
              <a:t>   • Live web intel (Gemini + Google Search grounding, when enabled)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Agentic, not advisory — Gemini Function Calling emits a typed, enum-constrained</a:t>
            </a:r>
          </a:p>
          <a:p>
            <a:r>
              <a:rPr sz="1300">
                <a:solidFill>
                  <a:srgbClr val="1F1F1F"/>
                </a:solidFill>
              </a:rPr>
              <a:t>   resource plan ("dispatch 14 medical kits + 2 transport units"). Existing</a:t>
            </a:r>
          </a:p>
          <a:p>
            <a:r>
              <a:rPr sz="1300">
                <a:solidFill>
                  <a:srgbClr val="1F1F1F"/>
                </a:solidFill>
              </a:rPr>
              <a:t>   solutions stop at a priority score; ours commits to specific resources and</a:t>
            </a:r>
          </a:p>
          <a:p>
            <a:r>
              <a:rPr sz="1300">
                <a:solidFill>
                  <a:srgbClr val="1F1F1F"/>
                </a:solidFill>
              </a:rPr>
              <a:t>   quantities.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Predictive, not just reactive — POST /api/predict generates a pre-positioning</a:t>
            </a:r>
          </a:p>
          <a:p>
            <a:r>
              <a:rPr sz="1300">
                <a:solidFill>
                  <a:srgbClr val="1F1F1F"/>
                </a:solidFill>
              </a:rPr>
              <a:t>   plan BEFORE landfall. We don't wait for the disaster to start before staging.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Multimodal + multilingual — Web Speech API voice input, image upload with</a:t>
            </a:r>
          </a:p>
          <a:p>
            <a:r>
              <a:rPr sz="1300">
                <a:solidFill>
                  <a:srgbClr val="1F1F1F"/>
                </a:solidFill>
              </a:rPr>
              <a:t>   Gemini Vision verification, Hindi/regional languages auto-detected.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Free-Tier-proof demo — Scenario Simulator replays 2023 Cyclone Biparjoy with</a:t>
            </a:r>
          </a:p>
          <a:p>
            <a:r>
              <a:rPr sz="1300">
                <a:solidFill>
                  <a:srgbClr val="1F1F1F"/>
                </a:solidFill>
              </a:rPr>
              <a:t>   pre-baked AI outputs. The demo runs even if Gemini quota is exhausted.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How it solves the problem — Manual triage that took dispatchers minutes per</a:t>
            </a:r>
          </a:p>
          <a:p>
            <a:r>
              <a:rPr sz="1300">
                <a:solidFill>
                  <a:srgbClr val="1F1F1F"/>
                </a:solidFill>
              </a:rPr>
              <a:t>request now happens in seconds, with consistent reasoning, full audit trail</a:t>
            </a:r>
          </a:p>
          <a:p>
            <a:r>
              <a:rPr sz="1300">
                <a:solidFill>
                  <a:srgbClr val="1F1F1F"/>
                </a:solidFill>
              </a:rPr>
              <a:t>(scoring rationale + RAG precedent + resources), and live broadcast to every</a:t>
            </a:r>
          </a:p>
          <a:p>
            <a:r>
              <a:rPr sz="1300">
                <a:solidFill>
                  <a:srgbClr val="1F1F1F"/>
                </a:solidFill>
              </a:rPr>
              <a:t>field officer's dashboard simultaneously.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1F1F"/>
                </a:solidFill>
              </a:rPr>
              <a:t>Core features: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• Multi-channel intake — text, voice (Web Speech API), image upload</a:t>
            </a:r>
          </a:p>
          <a:p>
            <a:r>
              <a:rPr sz="1300">
                <a:solidFill>
                  <a:srgbClr val="1F1F1F"/>
                </a:solidFill>
              </a:rPr>
              <a:t>• Live weather enrichment — Open-Meteo geocoding + current conditions</a:t>
            </a:r>
          </a:p>
          <a:p>
            <a:r>
              <a:rPr sz="1300">
                <a:solidFill>
                  <a:srgbClr val="1F1F1F"/>
                </a:solidFill>
              </a:rPr>
              <a:t>• Gemini Embeddings RAG — semantic match over 20 Indian disaster precedents</a:t>
            </a:r>
          </a:p>
          <a:p>
            <a:r>
              <a:rPr sz="1300">
                <a:solidFill>
                  <a:srgbClr val="1F1F1F"/>
                </a:solidFill>
              </a:rPr>
              <a:t>• Gemini 2.5-Flash with Function Calling — typed, enum-constrained plan</a:t>
            </a:r>
          </a:p>
          <a:p>
            <a:r>
              <a:rPr sz="1300">
                <a:solidFill>
                  <a:srgbClr val="1F1F1F"/>
                </a:solidFill>
              </a:rPr>
              <a:t>• Multimodal image verification — Gemini Vision validates submitted photos</a:t>
            </a:r>
          </a:p>
          <a:p>
            <a:r>
              <a:rPr sz="1300">
                <a:solidFill>
                  <a:srgbClr val="1F1F1F"/>
                </a:solidFill>
              </a:rPr>
              <a:t>• Auto-language detection — Hindi / regional languages flagged for translation</a:t>
            </a:r>
          </a:p>
          <a:p>
            <a:r>
              <a:rPr sz="1300">
                <a:solidFill>
                  <a:srgbClr val="1F1F1F"/>
                </a:solidFill>
              </a:rPr>
              <a:t>• Auto-dispatch — score &gt;= 80 fires a Google Chat card to NDRF / SDRF channel</a:t>
            </a:r>
          </a:p>
          <a:p>
            <a:r>
              <a:rPr sz="1300">
                <a:solidFill>
                  <a:srgbClr val="1F1F1F"/>
                </a:solidFill>
              </a:rPr>
              <a:t>• Real-time admin dashboard — Socket.io live updates, TTS audio alerts on</a:t>
            </a:r>
          </a:p>
          <a:p>
            <a:r>
              <a:rPr sz="1300">
                <a:solidFill>
                  <a:srgbClr val="1F1F1F"/>
                </a:solidFill>
              </a:rPr>
              <a:t>  critical dispatches, live inventory sidebar (8 resource types)</a:t>
            </a:r>
          </a:p>
          <a:p>
            <a:r>
              <a:rPr sz="1300">
                <a:solidFill>
                  <a:srgbClr val="1F1F1F"/>
                </a:solidFill>
              </a:rPr>
              <a:t>• Predictive Pre-Positioning Engine — generates a staging plan with district</a:t>
            </a:r>
          </a:p>
          <a:p>
            <a:r>
              <a:rPr sz="1300">
                <a:solidFill>
                  <a:srgbClr val="1F1F1F"/>
                </a:solidFill>
              </a:rPr>
              <a:t>  priorities, confidence, readiness windows, BEFORE the disaster strikes</a:t>
            </a:r>
          </a:p>
          <a:p>
            <a:r>
              <a:rPr sz="1300">
                <a:solidFill>
                  <a:srgbClr val="1F1F1F"/>
                </a:solidFill>
              </a:rPr>
              <a:t>• Scenario Simulator — replays Cyclone Biparjoy with 14 events compressed into</a:t>
            </a:r>
          </a:p>
          <a:p>
            <a:r>
              <a:rPr sz="1300">
                <a:solidFill>
                  <a:srgbClr val="1F1F1F"/>
                </a:solidFill>
              </a:rPr>
              <a:t>  180s for reliable demo, even on Gemini Free Tier</a:t>
            </a:r>
          </a:p>
          <a:p>
            <a:r>
              <a:rPr sz="1300">
                <a:solidFill>
                  <a:srgbClr val="1F1F1F"/>
                </a:solidFill>
              </a:rPr>
              <a:t>• Implicit context caching — static system instruction + tool schema hoisted</a:t>
            </a:r>
          </a:p>
          <a:p>
            <a:r>
              <a:rPr sz="1300">
                <a:solidFill>
                  <a:srgbClr val="1F1F1F"/>
                </a:solidFill>
              </a:rPr>
              <a:t>  to module scope so Gemini auto-caches the prompt prefix</a:t>
            </a:r>
          </a:p>
          <a:p>
            <a:r>
              <a:rPr sz="1300">
                <a:solidFill>
                  <a:srgbClr val="1F1F1F"/>
                </a:solidFill>
              </a:rPr>
              <a:t>• 429 retry with backoff — parses Gemini RetryInfo, waits and retries</a:t>
            </a:r>
          </a:p>
          <a:p>
            <a:r>
              <a:rPr sz="1300">
                <a:solidFill>
                  <a:srgbClr val="1F1F1F"/>
                </a:solidFill>
              </a:rPr>
              <a:t>• Heuristic offline fallback — server keeps running and producing plans</a:t>
            </a:r>
          </a:p>
          <a:p>
            <a:r>
              <a:rPr sz="1300">
                <a:solidFill>
                  <a:srgbClr val="1F1F1F"/>
                </a:solidFill>
              </a:rPr>
              <a:t>  even when Gemini is throttled or unreachable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1F1F"/>
                </a:solidFill>
                <a:latin typeface="Consolas"/>
              </a:rPr>
              <a:t>Process flow — per emergency request: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[Citizen / Field Officer]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│ submits text + voice + image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▼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[POST /api/requests]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├─► Open-Meteo geocoding + current weather  ┐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├─► Gemini Embeddings RAG (3072-dim cosine) ├─ parallel (Promise.all)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└─► Google Search grounding (when enabled)  ┘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▼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[Gemini 2.5-Flash + Function Calling]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│ submit_priority_analysis(...)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▼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[score, reasoning, forecast, imageVerification,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detectedLanguage, ragPrecedent, recommendedResources[]]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├─ if score &gt;= 80 ──► Google Chat webhook (auto-dispatch card)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▼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[Allocation engine: sort by score, decrement inventory]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▼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[Socket.io broadcast 'new_allocation']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▼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[All admin dashboards refresh in real time]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Use-case parallel: Predictive flow (POST /api/predict) takes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{region, threat, horizonHours} and emits a multi-district staging plan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BEFORE impact, using the same RAG + weather + Gemini Function Calling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pattern with a different tool schema (submit_prepositioning_plan).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TextBox 140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1F1F"/>
                </a:solidFill>
              </a:rPr>
              <a:t>Wireframes / mockups — actual screens (shipped):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1. SubmitRequestPage (route: /)</a:t>
            </a:r>
          </a:p>
          <a:p>
            <a:r>
              <a:rPr sz="1300">
                <a:solidFill>
                  <a:srgbClr val="1F1F1F"/>
                </a:solidFill>
              </a:rPr>
              <a:t>   • Glassmorphism card on dark theme (Outfit font)</a:t>
            </a:r>
          </a:p>
          <a:p>
            <a:r>
              <a:rPr sz="1300">
                <a:solidFill>
                  <a:srgbClr val="1F1F1F"/>
                </a:solidFill>
              </a:rPr>
              <a:t>   • Inputs: type dropdown, peopleCount, urgency, location (free text),</a:t>
            </a:r>
          </a:p>
          <a:p>
            <a:r>
              <a:rPr sz="1300">
                <a:solidFill>
                  <a:srgbClr val="1F1F1F"/>
                </a:solidFill>
              </a:rPr>
              <a:t>     notes (multi-line), optional image upload, voice button (mic icon)</a:t>
            </a:r>
          </a:p>
          <a:p>
            <a:r>
              <a:rPr sz="1300">
                <a:solidFill>
                  <a:srgbClr val="1F1F1F"/>
                </a:solidFill>
              </a:rPr>
              <a:t>   • Submit button -&gt; POST /api/requests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2. AdminDashboard (route: /admin)</a:t>
            </a:r>
          </a:p>
          <a:p>
            <a:r>
              <a:rPr sz="1300">
                <a:solidFill>
                  <a:srgbClr val="1F1F1F"/>
                </a:solidFill>
              </a:rPr>
              <a:t>   • Live inventory sidebar (8 resource types with current stock)</a:t>
            </a:r>
          </a:p>
          <a:p>
            <a:r>
              <a:rPr sz="1300">
                <a:solidFill>
                  <a:srgbClr val="1F1F1F"/>
                </a:solidFill>
              </a:rPr>
              <a:t>   • Main feed: ranked allocation cards (priority badge, score, reasoning,</a:t>
            </a:r>
          </a:p>
          <a:p>
            <a:r>
              <a:rPr sz="1300">
                <a:solidFill>
                  <a:srgbClr val="1F1F1F"/>
                </a:solidFill>
              </a:rPr>
              <a:t>     forecast, RAG precedent, recommendedResources list)</a:t>
            </a:r>
          </a:p>
          <a:p>
            <a:r>
              <a:rPr sz="1300">
                <a:solidFill>
                  <a:srgbClr val="1F1F1F"/>
                </a:solidFill>
              </a:rPr>
              <a:t>   • Predictive Pre-Positioning panel (collapsible) — form + per-district</a:t>
            </a:r>
          </a:p>
          <a:p>
            <a:r>
              <a:rPr sz="1300">
                <a:solidFill>
                  <a:srgbClr val="1F1F1F"/>
                </a:solidFill>
              </a:rPr>
              <a:t>     cards with confidence colour-coding</a:t>
            </a:r>
          </a:p>
          <a:p>
            <a:r>
              <a:rPr sz="1300">
                <a:solidFill>
                  <a:srgbClr val="1F1F1F"/>
                </a:solidFill>
              </a:rPr>
              <a:t>   • Scenario Simulator bar — Play / Stop, phase label, progress ticker</a:t>
            </a:r>
          </a:p>
          <a:p>
            <a:r>
              <a:rPr sz="1300">
                <a:solidFill>
                  <a:srgbClr val="1F1F1F"/>
                </a:solidFill>
              </a:rPr>
              <a:t>   • Audio alert (TTS) when a score &gt;= 80 lands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(Replace this slide with screenshots before final submission.)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1F1F"/>
                </a:solidFill>
                <a:latin typeface="Consolas"/>
              </a:rPr>
              <a:t>Architecture: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CLIENT (React + Vite, Socket.io-client)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┌──────────────────────┐    ┌──────────────────────────────┐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│ SubmitRequestPage    │    │ AdminDashboard               │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│ (voice / image / text)│   │ (live feed + simulator + predict)│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└──────────┬───────────┘    └─────────────┬────────────────┘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└─────────────┼───────────────────────────────┼──────────────────┘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       │ HTTPS                         │ WebSocket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       ▼                               ▼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SERVER (Node.js + Express + Socket.io, port 5000)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                                    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Controllers:                        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requestController     • predictionController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demoController         • allocationService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                                    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Services:                           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weatherService    -&gt; Open-Meteo API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ragService        -&gt; Gemini Embeddings (gemini-embedding-001)│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geminiService     -&gt; Gemini 2.5-Flash + Function Calling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groundingService  -&gt; Gemini + Google Search grounding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predictionService -&gt; Gemini 2.5-Flash + 2nd tool schema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googleChatService -&gt; Google Chat webhook (auto-dispatch)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simulatorService  -&gt; Cyclone Biparjoy scenario replay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                                    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Data:                               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In-memory DB (requests + 8-type inventory)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historyDb.js — 20 Indian disaster precedents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cyclone-biparjoy.json — 14-event demo scenario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              ▼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GOOGLE AI / EXTERNAL APIS            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Gemini 2.5-Flash (analysis + prediction)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Gemini Embeddings (RAG, 3072-dim) 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Gemini Vision (image verification)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Google Search grounding (live web intel — gated)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Google Chat webhook (alert dispatch)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│  • Open-Meteo (geocoding + weather)                            │</a:t>
            </a:r>
          </a:p>
          <a:p>
            <a:r>
              <a:rPr sz="1100">
                <a:solidFill>
                  <a:srgbClr val="1F1F1F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1F1F"/>
                </a:solidFill>
              </a:rPr>
              <a:t>Technologies: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Google AI / Cloud:</a:t>
            </a:r>
          </a:p>
          <a:p>
            <a:r>
              <a:rPr sz="1300">
                <a:solidFill>
                  <a:srgbClr val="1F1F1F"/>
                </a:solidFill>
              </a:rPr>
              <a:t>  • Gemini 2.5-Flash — primary LLM, drives Function Calling</a:t>
            </a:r>
          </a:p>
          <a:p>
            <a:r>
              <a:rPr sz="1300">
                <a:solidFill>
                  <a:srgbClr val="1F1F1F"/>
                </a:solidFill>
              </a:rPr>
              <a:t>  • Gemini Embeddings (gemini-embedding-001) — 3072-dim semantic RAG</a:t>
            </a:r>
          </a:p>
          <a:p>
            <a:r>
              <a:rPr sz="1300">
                <a:solidFill>
                  <a:srgbClr val="1F1F1F"/>
                </a:solidFill>
              </a:rPr>
              <a:t>  • Gemini Vision — multimodal image verification</a:t>
            </a:r>
          </a:p>
          <a:p>
            <a:r>
              <a:rPr sz="1300">
                <a:solidFill>
                  <a:srgbClr val="1F1F1F"/>
                </a:solidFill>
              </a:rPr>
              <a:t>  • Google Search grounding — live web intel with citations (gated)</a:t>
            </a:r>
          </a:p>
          <a:p>
            <a:r>
              <a:rPr sz="1300">
                <a:solidFill>
                  <a:srgbClr val="1F1F1F"/>
                </a:solidFill>
              </a:rPr>
              <a:t>  • Implicit context caching — static prefix hoisted for auto-caching</a:t>
            </a:r>
          </a:p>
          <a:p>
            <a:r>
              <a:rPr sz="1300">
                <a:solidFill>
                  <a:srgbClr val="1F1F1F"/>
                </a:solidFill>
              </a:rPr>
              <a:t>  • Google Chat webhook — auto-dispatch alert cards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Backend:</a:t>
            </a:r>
          </a:p>
          <a:p>
            <a:r>
              <a:rPr sz="1300">
                <a:solidFill>
                  <a:srgbClr val="1F1F1F"/>
                </a:solidFill>
              </a:rPr>
              <a:t>  • Node.js + Express (CommonJS)</a:t>
            </a:r>
          </a:p>
          <a:p>
            <a:r>
              <a:rPr sz="1300">
                <a:solidFill>
                  <a:srgbClr val="1F1F1F"/>
                </a:solidFill>
              </a:rPr>
              <a:t>  • Socket.io — real-time dashboard updates</a:t>
            </a:r>
          </a:p>
          <a:p>
            <a:r>
              <a:rPr sz="1300">
                <a:solidFill>
                  <a:srgbClr val="1F1F1F"/>
                </a:solidFill>
              </a:rPr>
              <a:t>  • @google/genai (official Google GenAI SDK for Node)</a:t>
            </a:r>
          </a:p>
          <a:p>
            <a:r>
              <a:rPr sz="1300">
                <a:solidFill>
                  <a:srgbClr val="1F1F1F"/>
                </a:solidFill>
              </a:rPr>
              <a:t>  • dotenv, cors, axios, multer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Frontend:</a:t>
            </a:r>
          </a:p>
          <a:p>
            <a:r>
              <a:rPr sz="1300">
                <a:solidFill>
                  <a:srgbClr val="1F1F1F"/>
                </a:solidFill>
              </a:rPr>
              <a:t>  • React 18 + Vite (ESM)</a:t>
            </a:r>
          </a:p>
          <a:p>
            <a:r>
              <a:rPr sz="1300">
                <a:solidFill>
                  <a:srgbClr val="1F1F1F"/>
                </a:solidFill>
              </a:rPr>
              <a:t>  • Socket.io-client</a:t>
            </a:r>
          </a:p>
          <a:p>
            <a:r>
              <a:rPr sz="1300">
                <a:solidFill>
                  <a:srgbClr val="1F1F1F"/>
                </a:solidFill>
              </a:rPr>
              <a:t>  • Web Speech API (voice input + TTS audio alerts)</a:t>
            </a:r>
          </a:p>
          <a:p>
            <a:r>
              <a:rPr sz="1300">
                <a:solidFill>
                  <a:srgbClr val="1F1F1F"/>
                </a:solidFill>
              </a:rPr>
              <a:t>  • ESLint (React Hooks + Refresh rules)</a:t>
            </a:r>
          </a:p>
          <a:p>
            <a:r>
              <a:rPr sz="1300">
                <a:solidFill>
                  <a:srgbClr val="1F1F1F"/>
                </a:solidFill>
              </a:rPr>
              <a:t>  • Custom glassmorphism CSS, Outfit font (Google Fonts)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External APIs:</a:t>
            </a:r>
          </a:p>
          <a:p>
            <a:r>
              <a:rPr sz="1300">
                <a:solidFill>
                  <a:srgbClr val="1F1F1F"/>
                </a:solidFill>
              </a:rPr>
              <a:t>  • Open-Meteo — geocoding + current weather (no key required)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Roadmap (planned cloud depth):</a:t>
            </a:r>
          </a:p>
          <a:p>
            <a:r>
              <a:rPr sz="1300">
                <a:solidFill>
                  <a:srgbClr val="1F1F1F"/>
                </a:solidFill>
              </a:rPr>
              <a:t>  • Cloud Run — containerised backend</a:t>
            </a:r>
          </a:p>
          <a:p>
            <a:r>
              <a:rPr sz="1300">
                <a:solidFill>
                  <a:srgbClr val="1F1F1F"/>
                </a:solidFill>
              </a:rPr>
              <a:t>  • Vertex AI Agent Builder — pipeline as a managed agent</a:t>
            </a:r>
          </a:p>
          <a:p>
            <a:r>
              <a:rPr sz="1300">
                <a:solidFill>
                  <a:srgbClr val="1F1F1F"/>
                </a:solidFill>
              </a:rPr>
              <a:t>  • BigQuery — replace in-memory DB for analytics queries</a:t>
            </a:r>
          </a:p>
          <a:p>
            <a:r>
              <a:rPr sz="1300">
                <a:solidFill>
                  <a:srgbClr val="1F1F1F"/>
                </a:solidFill>
              </a:rPr>
              <a:t>  • Firestore — request history persistence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TextBox 158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1F1F"/>
                </a:solidFill>
              </a:rPr>
              <a:t>Estimated implementation cost (Gemini Pay-As-You-Go):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Per request analysis:</a:t>
            </a:r>
          </a:p>
          <a:p>
            <a:r>
              <a:rPr sz="1300">
                <a:solidFill>
                  <a:srgbClr val="1F1F1F"/>
                </a:solidFill>
              </a:rPr>
              <a:t>  • Gemini 2.5-Flash (input ~3k tokens system + ~500 prompt, output ~600</a:t>
            </a:r>
          </a:p>
          <a:p>
            <a:r>
              <a:rPr sz="1300">
                <a:solidFill>
                  <a:srgbClr val="1F1F1F"/>
                </a:solidFill>
              </a:rPr>
              <a:t>    tokens function call) — approx USD 0.0006 per request</a:t>
            </a:r>
          </a:p>
          <a:p>
            <a:r>
              <a:rPr sz="1300">
                <a:solidFill>
                  <a:srgbClr val="1F1F1F"/>
                </a:solidFill>
              </a:rPr>
              <a:t>  • Gemini Embeddings (1 query embed + 20-event init batch) —</a:t>
            </a:r>
          </a:p>
          <a:p>
            <a:r>
              <a:rPr sz="1300">
                <a:solidFill>
                  <a:srgbClr val="1F1F1F"/>
                </a:solidFill>
              </a:rPr>
              <a:t>    init ~USD 0.0003, per query ~USD 0.00002</a:t>
            </a:r>
          </a:p>
          <a:p>
            <a:r>
              <a:rPr sz="1300">
                <a:solidFill>
                  <a:srgbClr val="1F1F1F"/>
                </a:solidFill>
              </a:rPr>
              <a:t>  • Implicit context caching reduces input cost ~75% on repeat traffic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At 1,000 requests / day:</a:t>
            </a:r>
          </a:p>
          <a:p>
            <a:r>
              <a:rPr sz="1300">
                <a:solidFill>
                  <a:srgbClr val="1F1F1F"/>
                </a:solidFill>
              </a:rPr>
              <a:t>  • Gemini cost: approx USD 0.65 / day (~USD 20 / month)</a:t>
            </a:r>
          </a:p>
          <a:p>
            <a:r>
              <a:rPr sz="1300">
                <a:solidFill>
                  <a:srgbClr val="1F1F1F"/>
                </a:solidFill>
              </a:rPr>
              <a:t>  • Open-Meteo: free</a:t>
            </a:r>
          </a:p>
          <a:p>
            <a:r>
              <a:rPr sz="1300">
                <a:solidFill>
                  <a:srgbClr val="1F1F1F"/>
                </a:solidFill>
              </a:rPr>
              <a:t>  • Google Chat webhook: free</a:t>
            </a:r>
          </a:p>
          <a:p>
            <a:r>
              <a:rPr sz="1300">
                <a:solidFill>
                  <a:srgbClr val="1F1F1F"/>
                </a:solidFill>
              </a:rPr>
              <a:t>  • Hosting (Cloud Run + small DB instance): approx USD 30 / month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Total operating cost target: under USD 50 / month for 1,000 requests/day,</a:t>
            </a:r>
          </a:p>
          <a:p>
            <a:r>
              <a:rPr sz="1300">
                <a:solidFill>
                  <a:srgbClr val="1F1F1F"/>
                </a:solidFill>
              </a:rPr>
              <a:t>scaling near-linearly. Free Tier (current) covers tens of requests / day</a:t>
            </a:r>
          </a:p>
          <a:p>
            <a:r>
              <a:rPr sz="1300">
                <a:solidFill>
                  <a:srgbClr val="1F1F1F"/>
                </a:solidFill>
              </a:rPr>
              <a:t>which is sufficient for demo and pilot deployments.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TextBox 164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1F1F"/>
                </a:solidFill>
              </a:rPr>
              <a:t>Snapshots of the MVP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[Replace this slide with screenshots before final submission]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Recommended captures:</a:t>
            </a:r>
          </a:p>
          <a:p>
            <a:r>
              <a:rPr sz="1300">
                <a:solidFill>
                  <a:srgbClr val="1F1F1F"/>
                </a:solidFill>
              </a:rPr>
              <a:t>  1. SubmitRequestPage — form filled with sample emergency</a:t>
            </a:r>
          </a:p>
          <a:p>
            <a:r>
              <a:rPr sz="1300">
                <a:solidFill>
                  <a:srgbClr val="1F1F1F"/>
                </a:solidFill>
              </a:rPr>
              <a:t>  2. AdminDashboard — live allocation card with score badge,</a:t>
            </a:r>
          </a:p>
          <a:p>
            <a:r>
              <a:rPr sz="1300">
                <a:solidFill>
                  <a:srgbClr val="1F1F1F"/>
                </a:solidFill>
              </a:rPr>
              <a:t>     reasoning, RAG precedent, recommendedResources list</a:t>
            </a:r>
          </a:p>
          <a:p>
            <a:r>
              <a:rPr sz="1300">
                <a:solidFill>
                  <a:srgbClr val="1F1F1F"/>
                </a:solidFill>
              </a:rPr>
              <a:t>  3. Google Chat — auto-dispatched card from a score &gt;= 80 request</a:t>
            </a:r>
          </a:p>
          <a:p>
            <a:r>
              <a:rPr sz="1300">
                <a:solidFill>
                  <a:srgbClr val="1F1F1F"/>
                </a:solidFill>
              </a:rPr>
              <a:t>  4. Predictive Pre-Positioning panel — district cards with</a:t>
            </a:r>
          </a:p>
          <a:p>
            <a:r>
              <a:rPr sz="1300">
                <a:solidFill>
                  <a:srgbClr val="1F1F1F"/>
                </a:solidFill>
              </a:rPr>
              <a:t>     confidence colour-coding</a:t>
            </a:r>
          </a:p>
          <a:p>
            <a:r>
              <a:rPr sz="1300">
                <a:solidFill>
                  <a:srgbClr val="1F1F1F"/>
                </a:solidFill>
              </a:rPr>
              <a:t>  5. Scenario Simulator — running with phase label and progress ticker</a:t>
            </a:r>
          </a:p>
          <a:p>
            <a:r>
              <a:rPr sz="1300">
                <a:solidFill>
                  <a:srgbClr val="1F1F1F"/>
                </a:solidFill>
              </a:rPr>
              <a:t>  6. Backend console — token usage log showing implicit cache hits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TextBox 170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1F1F"/>
                </a:solidFill>
              </a:rPr>
              <a:t>Additional details / Future development: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Immediate (post-submission):</a:t>
            </a:r>
          </a:p>
          <a:p>
            <a:r>
              <a:rPr sz="1300">
                <a:solidFill>
                  <a:srgbClr val="1F1F1F"/>
                </a:solidFill>
              </a:rPr>
              <a:t>  • Cloud Run deployment of backend (containerised)</a:t>
            </a:r>
          </a:p>
          <a:p>
            <a:r>
              <a:rPr sz="1300">
                <a:solidFill>
                  <a:srgbClr val="1F1F1F"/>
                </a:solidFill>
              </a:rPr>
              <a:t>  • Vercel deployment of frontend</a:t>
            </a:r>
          </a:p>
          <a:p>
            <a:r>
              <a:rPr sz="1300">
                <a:solidFill>
                  <a:srgbClr val="1F1F1F"/>
                </a:solidFill>
              </a:rPr>
              <a:t>  • Persistence — Firestore replaces in-memory DB</a:t>
            </a:r>
          </a:p>
          <a:p>
            <a:r>
              <a:rPr sz="1300">
                <a:solidFill>
                  <a:srgbClr val="1F1F1F"/>
                </a:solidFill>
              </a:rPr>
              <a:t>  • Side-by-side "with vs without AI pre-staging" comparison panel</a:t>
            </a:r>
          </a:p>
          <a:p>
            <a:r>
              <a:rPr sz="1300">
                <a:solidFill>
                  <a:srgbClr val="1F1F1F"/>
                </a:solidFill>
              </a:rPr>
              <a:t>  • Dashboard timeline view (T-72h calm to T+48h recovery)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Mid-term:</a:t>
            </a:r>
          </a:p>
          <a:p>
            <a:r>
              <a:rPr sz="1300">
                <a:solidFill>
                  <a:srgbClr val="1F1F1F"/>
                </a:solidFill>
              </a:rPr>
              <a:t>  • Vertex AI Agent Builder — wrap pipeline as managed agent (judging</a:t>
            </a:r>
          </a:p>
          <a:p>
            <a:r>
              <a:rPr sz="1300">
                <a:solidFill>
                  <a:srgbClr val="1F1F1F"/>
                </a:solidFill>
              </a:rPr>
              <a:t>    criterion: Google Cloud integration depth)</a:t>
            </a:r>
          </a:p>
          <a:p>
            <a:r>
              <a:rPr sz="1300">
                <a:solidFill>
                  <a:srgbClr val="1F1F1F"/>
                </a:solidFill>
              </a:rPr>
              <a:t>  • BigQuery — analytics queries (avg response time by region,</a:t>
            </a:r>
          </a:p>
          <a:p>
            <a:r>
              <a:rPr sz="1300">
                <a:solidFill>
                  <a:srgbClr val="1F1F1F"/>
                </a:solidFill>
              </a:rPr>
              <a:t>    top resource gaps, RAG precedent hit-rate)</a:t>
            </a:r>
          </a:p>
          <a:p>
            <a:r>
              <a:rPr sz="1300">
                <a:solidFill>
                  <a:srgbClr val="1F1F1F"/>
                </a:solidFill>
              </a:rPr>
              <a:t>  • Mobile-first PWA for field officers</a:t>
            </a:r>
          </a:p>
          <a:p>
            <a:r>
              <a:rPr sz="1300">
                <a:solidFill>
                  <a:srgbClr val="1F1F1F"/>
                </a:solidFill>
              </a:rPr>
              <a:t>  • Hindi / regional language UI strings (currently AI-translated only)</a:t>
            </a:r>
          </a:p>
          <a:p>
            <a:r>
              <a:rPr sz="1300">
                <a:solidFill>
                  <a:srgbClr val="1F1F1F"/>
                </a:solidFill>
              </a:rPr>
              <a:t>  • Inventory replenishment workflow + supplier integrations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Long-term:</a:t>
            </a:r>
          </a:p>
          <a:p>
            <a:r>
              <a:rPr sz="1300">
                <a:solidFill>
                  <a:srgbClr val="1F1F1F"/>
                </a:solidFill>
              </a:rPr>
              <a:t>  • Federated deployment per state SDRF</a:t>
            </a:r>
          </a:p>
          <a:p>
            <a:r>
              <a:rPr sz="1300">
                <a:solidFill>
                  <a:srgbClr val="1F1F1F"/>
                </a:solidFill>
              </a:rPr>
              <a:t>  • IoT sensor integration (water level, seismic, weather stations)</a:t>
            </a:r>
          </a:p>
          <a:p>
            <a:r>
              <a:rPr sz="1300">
                <a:solidFill>
                  <a:srgbClr val="1F1F1F"/>
                </a:solidFill>
              </a:rPr>
              <a:t>  • Predictive evacuation routing with Maps Platform</a:t>
            </a:r>
          </a:p>
          <a:p>
            <a:r>
              <a:rPr sz="1300">
                <a:solidFill>
                  <a:srgbClr val="1F1F1F"/>
                </a:solidFill>
              </a:rPr>
              <a:t>  • Post-disaster recovery phase tooling (damage assessment via vision)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TextBox 176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1F1F"/>
                </a:solidFill>
              </a:rPr>
              <a:t>Provide links to your: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GitHub Public Repository:</a:t>
            </a:r>
          </a:p>
          <a:p>
            <a:r>
              <a:rPr sz="1300">
                <a:solidFill>
                  <a:srgbClr val="1F1F1F"/>
                </a:solidFill>
              </a:rPr>
              <a:t>   [FILL IN — https://github.com/&lt;user&gt;/ai-rescuenet]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Demo Video Link (3 minutes):</a:t>
            </a:r>
          </a:p>
          <a:p>
            <a:r>
              <a:rPr sz="1300">
                <a:solidFill>
                  <a:srgbClr val="1F1F1F"/>
                </a:solidFill>
              </a:rPr>
              <a:t>   [FILL IN — Drive / YouTube unlisted link]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MVP Link:</a:t>
            </a:r>
          </a:p>
          <a:p>
            <a:r>
              <a:rPr sz="1300">
                <a:solidFill>
                  <a:srgbClr val="1F1F1F"/>
                </a:solidFill>
              </a:rPr>
              <a:t>   [FILL IN — Vercel / Cloud Run URL, or "local prototype — see README"]</a:t>
            </a:r>
          </a:p>
          <a:p>
            <a:r>
              <a:rPr sz="1300">
                <a:solidFill>
                  <a:srgbClr val="1F1F1F"/>
                </a:solidFill>
              </a:rPr>
              <a:t/>
            </a:r>
          </a:p>
          <a:p>
            <a:r>
              <a:rPr sz="1300">
                <a:solidFill>
                  <a:srgbClr val="1F1F1F"/>
                </a:solidFill>
              </a:rPr>
              <a:t>Working Prototype Link:</a:t>
            </a:r>
          </a:p>
          <a:p>
            <a:r>
              <a:rPr sz="1300">
                <a:solidFill>
                  <a:srgbClr val="1F1F1F"/>
                </a:solidFill>
              </a:rPr>
              <a:t>   [FILL IN — same as MVP link, or live deployment URL]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